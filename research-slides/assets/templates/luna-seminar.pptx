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101"/>
  </p:notesMasterIdLst>
  <p:handoutMasterIdLst>
    <p:handoutMasterId r:id="rId102"/>
  </p:handoutMasterIdLst>
  <p:sldIdLst/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C0A"/>
    <a:srgbClr val="FFFFFF"/>
    <a:srgbClr val="FF994C"/>
    <a:srgbClr val="017101"/>
    <a:srgbClr val="DE9399"/>
    <a:srgbClr val="A3C8A0"/>
    <a:srgbClr val="ECBD98"/>
    <a:srgbClr val="84BBE4"/>
    <a:srgbClr val="801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88"/>
    <p:restoredTop sz="94913"/>
  </p:normalViewPr>
  <p:slideViewPr>
    <p:cSldViewPr snapToGrid="0">
      <p:cViewPr varScale="1">
        <p:scale>
          <a:sx n="103" d="100"/>
          <a:sy n="103" d="100"/>
        </p:scale>
        <p:origin x="128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09" d="100"/>
          <a:sy n="109" d="100"/>
        </p:scale>
        <p:origin x="5344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1" Type="http://schemas.openxmlformats.org/officeDocument/2006/relationships/notesMaster" Target="notesMasters/notesMaster1.xml"/><Relationship Id="rId102" Type="http://schemas.openxmlformats.org/officeDocument/2006/relationships/handoutMaster" Target="handoutMasters/handout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4ABF4952-6EF5-8426-77FE-2CDE72D7BF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D97DD79-37DA-EF7B-ADB4-FFA70562A5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FB57C0-8298-9245-B1BE-49F4E7DB0DB2}" type="datetimeFigureOut">
              <a:rPr lang="en-US" smtClean="0"/>
              <a:t>10/5/25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3A204BB-8DCF-1A2D-B324-ED315C2741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2FCAF0A-0836-3093-F36F-E4CF1E1A44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0B947C-B7E6-564B-B250-639C2C6A55A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469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A772B-5DA0-7844-B434-04CF04FB9BEF}" type="datetimeFigureOut">
              <a:rPr lang="it-IT" smtClean="0"/>
              <a:t>05/10/25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7D5DA-8705-CF41-8716-C82EB8A7A4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8331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olo 1">
            <a:extLst>
              <a:ext uri="{FF2B5EF4-FFF2-40B4-BE49-F238E27FC236}">
                <a16:creationId xmlns:a16="http://schemas.microsoft.com/office/drawing/2014/main" id="{89D0F4A4-9816-D553-A156-41C3D94C7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5130" y="2172383"/>
            <a:ext cx="8901738" cy="1514921"/>
          </a:xfrm>
          <a:prstGeom prst="roundRect">
            <a:avLst/>
          </a:prstGeom>
          <a:solidFill>
            <a:srgbClr val="B3071B"/>
          </a:solidFill>
        </p:spPr>
        <p:txBody>
          <a:bodyPr anchor="ctr">
            <a:normAutofit fontScale="90000"/>
          </a:bodyPr>
          <a:lstStyle>
            <a:lvl1pPr algn="ctr">
              <a:defRPr sz="4400"/>
            </a:lvl1pPr>
          </a:lstStyle>
          <a:p>
            <a:r>
              <a:rPr lang="it-IT" sz="48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Fare clic per modificare lo stile del titolo dello schema</a:t>
            </a:r>
            <a:endParaRPr lang="en-US" sz="48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5" name="Elemento grafico 14">
            <a:extLst>
              <a:ext uri="{FF2B5EF4-FFF2-40B4-BE49-F238E27FC236}">
                <a16:creationId xmlns:a16="http://schemas.microsoft.com/office/drawing/2014/main" id="{40F7A223-C310-61C6-D49E-775F424BAF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88283" y="4437852"/>
            <a:ext cx="1513261" cy="1513261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outerShdw blurRad="50800" dist="50800" dir="5400000" algn="ctr" rotWithShape="0">
              <a:srgbClr val="000000">
                <a:alpha val="87000"/>
              </a:srgbClr>
            </a:outerShdw>
            <a:reflection endPos="0" dist="50800" dir="5400000" sy="-100000" algn="bl" rotWithShape="0"/>
          </a:effectLst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2D52D35-FE2A-859E-8723-AF135DD7C8B1}"/>
              </a:ext>
            </a:extLst>
          </p:cNvPr>
          <p:cNvSpPr txBox="1"/>
          <p:nvPr userDrawn="1"/>
        </p:nvSpPr>
        <p:spPr>
          <a:xfrm>
            <a:off x="6244046" y="5747657"/>
            <a:ext cx="52251" cy="559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Segnaposto testo 29">
            <a:extLst>
              <a:ext uri="{FF2B5EF4-FFF2-40B4-BE49-F238E27FC236}">
                <a16:creationId xmlns:a16="http://schemas.microsoft.com/office/drawing/2014/main" id="{850BE798-A550-FEAC-FA5E-4315BC87F0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1279" y="3859993"/>
            <a:ext cx="5051425" cy="739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Segnaposto testo 29">
            <a:extLst>
              <a:ext uri="{FF2B5EF4-FFF2-40B4-BE49-F238E27FC236}">
                <a16:creationId xmlns:a16="http://schemas.microsoft.com/office/drawing/2014/main" id="{CE3EC930-935A-2DC3-DA24-5420400208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61276" y="4680576"/>
            <a:ext cx="5051425" cy="739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2" name="Segnaposto testo 29">
            <a:extLst>
              <a:ext uri="{FF2B5EF4-FFF2-40B4-BE49-F238E27FC236}">
                <a16:creationId xmlns:a16="http://schemas.microsoft.com/office/drawing/2014/main" id="{07542826-089A-DE2F-8161-5C1ED88E1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1276" y="5501159"/>
            <a:ext cx="5051425" cy="739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" name="Sottotitolo 2">
            <a:extLst>
              <a:ext uri="{FF2B5EF4-FFF2-40B4-BE49-F238E27FC236}">
                <a16:creationId xmlns:a16="http://schemas.microsoft.com/office/drawing/2014/main" id="{6FE892AA-142E-FD61-5E4E-9D4CE9EA289B}"/>
              </a:ext>
            </a:extLst>
          </p:cNvPr>
          <p:cNvSpPr txBox="1">
            <a:spLocks/>
          </p:cNvSpPr>
          <p:nvPr userDrawn="1"/>
        </p:nvSpPr>
        <p:spPr>
          <a:xfrm>
            <a:off x="166106" y="6497110"/>
            <a:ext cx="11859788" cy="311170"/>
          </a:xfrm>
          <a:prstGeom prst="roundRect">
            <a:avLst/>
          </a:prstGeom>
          <a:solidFill>
            <a:srgbClr val="8F8C8D"/>
          </a:solidFill>
          <a:ln w="25400">
            <a:solidFill>
              <a:srgbClr val="8F8C8D"/>
            </a:solidFill>
          </a:ln>
          <a:effectLst>
            <a:glow>
              <a:srgbClr val="8F8C8D">
                <a:alpha val="40000"/>
              </a:srgbClr>
            </a:glow>
            <a:outerShdw blurRad="50800" dist="50800" dir="5400000" sx="1000" sy="1000" algn="ctr" rotWithShape="0">
              <a:srgbClr val="000000"/>
            </a:outerShdw>
            <a:reflection endPos="0" dist="50800" dir="5400000" sy="-100000" algn="bl" rotWithShape="0"/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735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olo 1">
            <a:extLst>
              <a:ext uri="{FF2B5EF4-FFF2-40B4-BE49-F238E27FC236}">
                <a16:creationId xmlns:a16="http://schemas.microsoft.com/office/drawing/2014/main" id="{AA9CE67C-7F8E-7BBB-81AF-8E74FC561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62" y="115744"/>
            <a:ext cx="10085560" cy="843480"/>
          </a:xfrm>
          <a:prstGeom prst="roundRect">
            <a:avLst/>
          </a:prstGeom>
          <a:solidFill>
            <a:srgbClr val="B3071B"/>
          </a:solidFill>
        </p:spPr>
        <p:txBody>
          <a:bodyPr anchor="ctr"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it-IT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Fare clic per modificare lo stile del titolo dello schema</a:t>
            </a:r>
            <a:endParaRPr lang="en-US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Sottotitolo 2">
            <a:extLst>
              <a:ext uri="{FF2B5EF4-FFF2-40B4-BE49-F238E27FC236}">
                <a16:creationId xmlns:a16="http://schemas.microsoft.com/office/drawing/2014/main" id="{3144366E-F961-532C-3E6D-60ED9EB78235}"/>
              </a:ext>
            </a:extLst>
          </p:cNvPr>
          <p:cNvSpPr txBox="1">
            <a:spLocks/>
          </p:cNvSpPr>
          <p:nvPr userDrawn="1"/>
        </p:nvSpPr>
        <p:spPr>
          <a:xfrm>
            <a:off x="166106" y="6497110"/>
            <a:ext cx="11859788" cy="311170"/>
          </a:xfrm>
          <a:prstGeom prst="roundRect">
            <a:avLst/>
          </a:prstGeom>
          <a:solidFill>
            <a:srgbClr val="8F8C8D"/>
          </a:solidFill>
          <a:ln w="25400">
            <a:solidFill>
              <a:srgbClr val="8F8C8D"/>
            </a:solidFill>
          </a:ln>
          <a:effectLst>
            <a:glow>
              <a:srgbClr val="8F8C8D">
                <a:alpha val="40000"/>
              </a:srgbClr>
            </a:glow>
            <a:outerShdw blurRad="50800" dist="50800" dir="5400000" sx="1000" sy="1000" algn="ctr" rotWithShape="0">
              <a:srgbClr val="000000"/>
            </a:outerShdw>
            <a:reflection endPos="0" dist="50800" dir="5400000" sy="-100000" algn="bl" rotWithShape="0"/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16612" y="6499479"/>
            <a:ext cx="2743200" cy="300187"/>
          </a:xfrm>
          <a:prstGeom prst="rect">
            <a:avLst/>
          </a:prstGeom>
        </p:spPr>
        <p:txBody>
          <a:bodyPr anchor="ctr"/>
          <a:lstStyle>
            <a:lvl1pPr algn="r">
              <a:defRPr sz="16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C31C2EAF-3F13-7C42-AEC8-6C17EFC3463F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1468" y="6496550"/>
            <a:ext cx="6109063" cy="303116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algn="ctr"/>
            <a:r>
              <a:rPr lang="it-IT" dirty="0"/>
              <a:t>J. Skowronski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70611" y="6488759"/>
            <a:ext cx="2743200" cy="318698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it-IT" dirty="0"/>
              <a:t>26/08/24</a:t>
            </a:r>
          </a:p>
        </p:txBody>
      </p:sp>
    </p:spTree>
    <p:extLst>
      <p:ext uri="{BB962C8B-B14F-4D97-AF65-F5344CB8AC3E}">
        <p14:creationId xmlns:p14="http://schemas.microsoft.com/office/powerpoint/2010/main" val="17004748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9737199-97D0-5D02-BD36-E41E0428FF51}"/>
              </a:ext>
            </a:extLst>
          </p:cNvPr>
          <p:cNvSpPr txBox="1"/>
          <p:nvPr userDrawn="1"/>
        </p:nvSpPr>
        <p:spPr>
          <a:xfrm>
            <a:off x="11493289" y="6295991"/>
            <a:ext cx="540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30626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LUNA">
  <a:themeElements>
    <a:clrScheme name="UNIPD">
      <a:dk1>
        <a:srgbClr val="000000"/>
      </a:dk1>
      <a:lt1>
        <a:srgbClr val="FFFFFF"/>
      </a:lt1>
      <a:dk2>
        <a:srgbClr val="262B6A"/>
      </a:dk2>
      <a:lt2>
        <a:srgbClr val="EBF3F6"/>
      </a:lt2>
      <a:accent1>
        <a:srgbClr val="B3071B"/>
      </a:accent1>
      <a:accent2>
        <a:srgbClr val="8D8C8D"/>
      </a:accent2>
      <a:accent3>
        <a:srgbClr val="262B6A"/>
      </a:accent3>
      <a:accent4>
        <a:srgbClr val="36BDE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i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 anchor="ctr">
        <a:spAutoFit/>
      </a:bodyPr>
      <a:lstStyle>
        <a:defPPr algn="l">
          <a:defRPr dirty="0">
            <a:solidFill>
              <a:schemeClr val="tx1"/>
            </a:solidFill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zione standard5" id="{BCF68547-F74E-B341-973F-83BBB8E4D8C2}" vid="{7C852F9C-4CF0-C547-A481-73D76A20C817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LUNA</Template>
  <TotalTime>5321</TotalTime>
  <Words>3844</Words>
  <Application>Microsoft Macintosh PowerPoint</Application>
  <PresentationFormat>Widescreen</PresentationFormat>
  <Paragraphs>805</Paragraphs>
  <Slides>99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99</vt:i4>
      </vt:variant>
    </vt:vector>
  </HeadingPairs>
  <TitlesOfParts>
    <vt:vector size="104" baseType="lpstr">
      <vt:lpstr>Aptos</vt:lpstr>
      <vt:lpstr>Arial</vt:lpstr>
      <vt:lpstr>Cambria Math</vt:lpstr>
      <vt:lpstr>Helvetica Neue</vt:lpstr>
      <vt:lpstr>LUNA</vt:lpstr>
      <vt:lpstr>A Young Eye on Ancient Stars  Contemporary experimental approaches to nuclear astrophysics measurements and extrapolations</vt:lpstr>
      <vt:lpstr>Who Am I</vt:lpstr>
      <vt:lpstr>Who Am I</vt:lpstr>
      <vt:lpstr>Who Am I</vt:lpstr>
      <vt:lpstr>Who Am I</vt:lpstr>
      <vt:lpstr>Who Am I</vt:lpstr>
      <vt:lpstr>Who Am I</vt:lpstr>
      <vt:lpstr>Who Am I</vt:lpstr>
      <vt:lpstr>Presentazione standard di PowerPoint</vt:lpstr>
      <vt:lpstr>Proton Capture on 12C</vt:lpstr>
      <vt:lpstr>Proton Capture on 12C – Up to 2023</vt:lpstr>
      <vt:lpstr>Proton Capture on 12C – During 2023</vt:lpstr>
      <vt:lpstr>Experiment N. 1 - HPGe</vt:lpstr>
      <vt:lpstr>HPGe Efficiency</vt:lpstr>
      <vt:lpstr>HPGe Efficiency</vt:lpstr>
      <vt:lpstr>HPGe Efficiency</vt:lpstr>
      <vt:lpstr>Peak Shape Analysis</vt:lpstr>
      <vt:lpstr>Peak Shape Analysis</vt:lpstr>
      <vt:lpstr>Peak Shape Analysis</vt:lpstr>
      <vt:lpstr>Peak Shape Analysis</vt:lpstr>
      <vt:lpstr>NRRA Check</vt:lpstr>
      <vt:lpstr>NRRA Check</vt:lpstr>
      <vt:lpstr>NRRA Check</vt:lpstr>
      <vt:lpstr>Experiment N. 2 - BGO</vt:lpstr>
      <vt:lpstr>Activation Technique</vt:lpstr>
      <vt:lpstr>Activation Technique</vt:lpstr>
      <vt:lpstr>BGO Efficiency</vt:lpstr>
      <vt:lpstr>Activation Technique Check</vt:lpstr>
      <vt:lpstr>Activation Technique Check</vt:lpstr>
      <vt:lpstr>Sad End of the Story</vt:lpstr>
      <vt:lpstr>Sad End of the Story</vt:lpstr>
      <vt:lpstr>Proton Capture on 12C – After 2023</vt:lpstr>
      <vt:lpstr>Proton Capture on 12C – After 2023</vt:lpstr>
      <vt:lpstr>Presentazione standard di PowerPoint</vt:lpstr>
      <vt:lpstr>Astrophysical Motivation: 14N(p,γ)15O Reaction</vt:lpstr>
      <vt:lpstr>Astrophysical Motivation: 14N(p,γ)15O Reaction</vt:lpstr>
      <vt:lpstr>Astrophysical Motivation: 14N(p,γ)15O Reaction</vt:lpstr>
      <vt:lpstr>Astrophysical Motivation: Impact</vt:lpstr>
      <vt:lpstr>Astrophysical Motivation: Impact</vt:lpstr>
      <vt:lpstr>15O Lifetime: State of the Art</vt:lpstr>
      <vt:lpstr>AGATA Array</vt:lpstr>
      <vt:lpstr>AGATA Array</vt:lpstr>
      <vt:lpstr>AGATA Array</vt:lpstr>
      <vt:lpstr>15O Lifetime: Experimental Setup @ LNL</vt:lpstr>
      <vt:lpstr>15O Lifetime: Experimental Setup @ LNL</vt:lpstr>
      <vt:lpstr>15O Lifetime: Targets</vt:lpstr>
      <vt:lpstr>15O Lifetime: Targets</vt:lpstr>
      <vt:lpstr>15O Lifetime: Neutron Correction</vt:lpstr>
      <vt:lpstr>15O Lifetime: Energy Calibration</vt:lpstr>
      <vt:lpstr>15O Lifetime: Energy Calibration (2)</vt:lpstr>
      <vt:lpstr>15O Lifetime: Final Optimization</vt:lpstr>
      <vt:lpstr>15O Lifetime: Final Optimization</vt:lpstr>
      <vt:lpstr>15O Lifetime: 6859 keV State</vt:lpstr>
      <vt:lpstr>15O Lifetime: 5181 keV State</vt:lpstr>
      <vt:lpstr>15O Lifetime: 6172 keV State</vt:lpstr>
      <vt:lpstr>15O Lifetime: 6792 keV State</vt:lpstr>
      <vt:lpstr>15O Lifetime: DSAM Analysis (1)</vt:lpstr>
      <vt:lpstr>15O Lifetime: DSAM Analysis (1)</vt:lpstr>
      <vt:lpstr>15O Lifetime: DSAM Analysis (1)</vt:lpstr>
      <vt:lpstr>15O Lifetime: DSAM Analysis (1)</vt:lpstr>
      <vt:lpstr>15O Lifetime: DSAM Analysis (2)</vt:lpstr>
      <vt:lpstr>Presentazione standard di PowerPoint</vt:lpstr>
      <vt:lpstr>Extrapolations</vt:lpstr>
      <vt:lpstr>Extrapolations</vt:lpstr>
      <vt:lpstr>Frequentist Extrapolation (1)</vt:lpstr>
      <vt:lpstr>Frequentist Extrapolation (1)</vt:lpstr>
      <vt:lpstr>Frequentist Extrapolation (1)</vt:lpstr>
      <vt:lpstr>MINUIT2 Uncertainty</vt:lpstr>
      <vt:lpstr>MINUIT2 Uncertainty</vt:lpstr>
      <vt:lpstr>MINUIT2 Uncertainty</vt:lpstr>
      <vt:lpstr>Frequentist Extrapolation (2)</vt:lpstr>
      <vt:lpstr>Correlation</vt:lpstr>
      <vt:lpstr>Correlation</vt:lpstr>
      <vt:lpstr>Initial Parameters Sampling</vt:lpstr>
      <vt:lpstr>Proposed “Solution”</vt:lpstr>
      <vt:lpstr>Proposed “Solution”</vt:lpstr>
      <vt:lpstr>Proposed “Solution”</vt:lpstr>
      <vt:lpstr>AZURE2 Developments – Energy Shifts</vt:lpstr>
      <vt:lpstr>AZURE2 Developments – Energy Shifts</vt:lpstr>
      <vt:lpstr>AZURE2 Developments – Energy Shifts</vt:lpstr>
      <vt:lpstr>AZURE2 Developments – Coulomb Wavefunctions</vt:lpstr>
      <vt:lpstr>AZURE2 Developments – Coulomb Wavefunctions</vt:lpstr>
      <vt:lpstr>AZURE2 Developments – Coulomb Wavefunctions</vt:lpstr>
      <vt:lpstr>AZURE2 Developments – Coulomb Wavefunctions</vt:lpstr>
      <vt:lpstr>AZURE2 Developments – Coulomb Wavefunctions</vt:lpstr>
      <vt:lpstr>Conclusions</vt:lpstr>
      <vt:lpstr>Conclusions</vt:lpstr>
      <vt:lpstr>Conclusions</vt:lpstr>
      <vt:lpstr>15O Lifetime: Backup (1)</vt:lpstr>
      <vt:lpstr>15O Lifetime: Backup (2)</vt:lpstr>
      <vt:lpstr>Backup – Beamspot Effect</vt:lpstr>
      <vt:lpstr>Backup – Activation Effect</vt:lpstr>
      <vt:lpstr>Backup – Hydrogen Implantation</vt:lpstr>
      <vt:lpstr>Experiment @ Felsenkeller</vt:lpstr>
      <vt:lpstr>Yield</vt:lpstr>
      <vt:lpstr>Yield</vt:lpstr>
      <vt:lpstr>Yield</vt:lpstr>
      <vt:lpstr>Yield</vt:lpstr>
      <vt:lpstr>Yield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Skowronski Jakub</dc:creator>
  <cp:lastModifiedBy>Skowronski Jakub</cp:lastModifiedBy>
  <cp:revision>31</cp:revision>
  <dcterms:created xsi:type="dcterms:W3CDTF">2025-09-23T16:49:41Z</dcterms:created>
  <dcterms:modified xsi:type="dcterms:W3CDTF">2025-10-06T00:05:07Z</dcterms:modified>
</cp:coreProperties>
</file>